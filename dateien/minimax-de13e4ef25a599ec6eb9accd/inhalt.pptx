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uisburg/tragfaehigkeit-pruefen-bestandsangaben-anbau-aufstockung/" TargetMode="External"/><Relationship Id="rId3" Type="http://schemas.openxmlformats.org/officeDocument/2006/relationships/hyperlink" Target="https://holzundhaus.github.io/1aholzbauduisburg/dateien/minimax-de13e4ef25a599ec6eb9acc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realistisch einschätzen: Bestandsangaben für Anbau und Aufstockung · Erklärende Präsentation</a:t>
            </a:r>
          </a:p>
        </p:txBody>
      </p:sp>
      <p:sp>
        <p:nvSpPr>
          <p:cNvPr id="3" name="Content Placeholder 2"/>
          <p:cNvSpPr>
            <a:spLocks noGrp="1"/>
          </p:cNvSpPr>
          <p:nvPr>
            <p:ph idx="1"/>
          </p:nvPr>
        </p:nvSpPr>
        <p:spPr/>
        <p:txBody>
          <a:bodyPr/>
          <a:lstStyle/>
          <a:p>
            <a:r>
              <a:t>Überblick: Ein Anbau oder eine Aufstockung in Holzbauweise beginnt nicht mit dem Wunsch nach neuen Räumen, sondern mit der Frage: Welche Lasten trägt der vorhandene Bauwerksteil heute tatsächlich? Eine belastbare erste Einschätzung benötigt Angaben zu Konstruktion, Aufbau, Spannweiten, bisherigen Eingriffen und zur geplanten Anschlussstelle. Der folgende Leitfaden zeigt, welche Informationen zu sammeln sind und wie sich Anbau und Aufstockung unterschiedlich bewerten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Bestandsangaben strukturiert erfassen</a:t>
            </a:r>
          </a:p>
        </p:txBody>
      </p:sp>
      <p:sp>
        <p:nvSpPr>
          <p:cNvPr id="3" name="Content Placeholder 2"/>
          <p:cNvSpPr>
            <a:spLocks noGrp="1"/>
          </p:cNvSpPr>
          <p:nvPr>
            <p:ph idx="1"/>
          </p:nvPr>
        </p:nvSpPr>
        <p:spPr/>
        <p:txBody>
          <a:bodyPr/>
          <a:lstStyle/>
          <a:p>
            <a:pPr>
              <a:defRPr sz="1800"/>
            </a:pPr>
            <a:r>
              <a:t>Für die Beurteilung der Tragfähigkeit ist zunächst eine Bestandsaufnahme wichtig. Hilfreich sind das Baujahr, die Konstruktionsart, die Geschosszahl sowie bekannte Querschnitte tragender Wände, Decken und Dächer. Beobachtungen zu Rissen, Verformungen, Feuchtigkeit oder bereits verstärkten Bereichen können Aufschluss über erkennbare Schwachstellen geben. Auch frühere Öffnungen, Umbauten und nachträgliche Bauteile gehören in die Unterlagen. Liegen Baupläne, statische Nachweise oder Baubeschreibungen vor, sollten sie ausdrücklich erwähnt werden, auch wenn sie unvollständig sind. Fehlt eine Unterlage, ist das ebenfalls eine relevante Information.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Bestandsangaben strukturiert erfassen</a:t>
            </a:r>
          </a:p>
        </p:txBody>
      </p:sp>
      <p:sp>
        <p:nvSpPr>
          <p:cNvPr id="3" name="Content Placeholder 2"/>
          <p:cNvSpPr>
            <a:spLocks noGrp="1"/>
          </p:cNvSpPr>
          <p:nvPr>
            <p:ph idx="1"/>
          </p:nvPr>
        </p:nvSpPr>
        <p:spPr/>
        <p:txBody>
          <a:bodyPr/>
          <a:lstStyle/>
          <a:p>
            <a:pPr>
              <a:defRPr sz="1800"/>
            </a:pPr>
            <a:r>
              <a:t> Die Anfrage zur Tragfähigkeit realistisch einschätzen gewinnt dadurch an Aussagekraft, dass sichtbare und belegbare Informationen klar voneinander getrennt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Anbau und Aufstockung unterschiedlich prüfen</a:t>
            </a:r>
          </a:p>
        </p:txBody>
      </p:sp>
      <p:sp>
        <p:nvSpPr>
          <p:cNvPr id="3" name="Content Placeholder 2"/>
          <p:cNvSpPr>
            <a:spLocks noGrp="1"/>
          </p:cNvSpPr>
          <p:nvPr>
            <p:ph idx="1"/>
          </p:nvPr>
        </p:nvSpPr>
        <p:spPr/>
        <p:txBody>
          <a:bodyPr/>
          <a:lstStyle/>
          <a:p>
            <a:pPr>
              <a:defRPr sz="1800"/>
            </a:pPr>
            <a:r>
              <a:t>Beim Anbau steht die Anschlussstelle im Mittelpunkt. Zu klären ist, auf welcher Höhe neue Holzbauteile an Decke, Wand oder Bodenplatte anschließen und wie die vorhandene Wand aufgebaut ist. Auch Leitungswege, Durchdringungen und geplante Öffnungen können die Anschlusssituation beeinflussen. Bei einer Aufstockung rückt dagegen die oberste Decke in den Fokus. Ihre Tragfähigkeit, die vorhandenen Spannweiten und die Lastweiterleitung in die darunterliegenden Geschosse bestimmen wesentlich die Möglichkeiten. Eine leichte Bauweise kann Belastungen reduzieren, ersetzt aber keinen Nachweis für die vorhandene Konstruktion. Die vorhandene Erschließung,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Anbau und Aufstockung unterschiedlich prüfen</a:t>
            </a:r>
          </a:p>
        </p:txBody>
      </p:sp>
      <p:sp>
        <p:nvSpPr>
          <p:cNvPr id="3" name="Content Placeholder 2"/>
          <p:cNvSpPr>
            <a:spLocks noGrp="1"/>
          </p:cNvSpPr>
          <p:nvPr>
            <p:ph idx="1"/>
          </p:nvPr>
        </p:nvSpPr>
        <p:spPr/>
        <p:txBody>
          <a:bodyPr/>
          <a:lstStyle/>
          <a:p>
            <a:pPr>
              <a:defRPr sz="1800"/>
            </a:pPr>
            <a:r>
              <a:t> beispielsweise für Treppe oder Fluchtwege, gehört ebenfalls zur frühen Betrachtung.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mit ihren Randbedingungen beschreiben</a:t>
            </a:r>
          </a:p>
        </p:txBody>
      </p:sp>
      <p:sp>
        <p:nvSpPr>
          <p:cNvPr id="3" name="Content Placeholder 2"/>
          <p:cNvSpPr>
            <a:spLocks noGrp="1"/>
          </p:cNvSpPr>
          <p:nvPr>
            <p:ph idx="1"/>
          </p:nvPr>
        </p:nvSpPr>
        <p:spPr/>
        <p:txBody>
          <a:bodyPr/>
          <a:lstStyle/>
          <a:p>
            <a:pPr>
              <a:defRPr sz="1800"/>
            </a:pPr>
            <a:r>
              <a:t>Für die Planung neuer Holzbauteile sind Höhenlagen und Anschlusshöhen ebenso wichtig wie der Aufbau von Außenwand, Dach und Geschossdecke. Fotos können verdeckliche oder schwer einzuordnende Situationen an der Baustelle verständlicher machen. Zu erfassen sind außerdem geplante Fensteröffnungen, Treppen, Gauben, Leitungswege und besondere konstruktive Elemente wie auskragende Teile oder sichtbare Holzkonstruktionen. Im Holzrahmenbau wirken tragender Rahmen und Beplankung zusammen. Eine passend aussteifende, bemessene und entsprechend befestigte Beplankung kann Teil des tragenden Systems sein. Dämmung, weitere Hüllschichten und Anschlüsse müsse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mit ihren Randbedingungen beschreiben</a:t>
            </a:r>
          </a:p>
        </p:txBody>
      </p:sp>
      <p:sp>
        <p:nvSpPr>
          <p:cNvPr id="3" name="Content Placeholder 2"/>
          <p:cNvSpPr>
            <a:spLocks noGrp="1"/>
          </p:cNvSpPr>
          <p:nvPr>
            <p:ph idx="1"/>
          </p:nvPr>
        </p:nvSpPr>
        <p:spPr/>
        <p:txBody>
          <a:bodyPr/>
          <a:lstStyle/>
          <a:p>
            <a:pPr>
              <a:defRPr sz="1800"/>
            </a:pPr>
            <a:r>
              <a:t>n dazu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einer ersten Einschätzung erkennen</a:t>
            </a:r>
          </a:p>
        </p:txBody>
      </p:sp>
      <p:sp>
        <p:nvSpPr>
          <p:cNvPr id="3" name="Content Placeholder 2"/>
          <p:cNvSpPr>
            <a:spLocks noGrp="1"/>
          </p:cNvSpPr>
          <p:nvPr>
            <p:ph idx="1"/>
          </p:nvPr>
        </p:nvSpPr>
        <p:spPr/>
        <p:txBody>
          <a:bodyPr/>
          <a:lstStyle/>
          <a:p>
            <a:pPr>
              <a:defRPr sz="1800"/>
            </a:pPr>
            <a:r>
              <a:t>Ohne vollständige Bestandsunterlagen lässt sich weder das vorhandene Eigengewicht noch die nutzbare Tragfähigkeit zuverlässig bestimmen. Auch Spannweiten und Reserven bleiben dann unbekannt. Eine pauschale Aussage, ein Bestand sei ausreichend tragfähig oder ein anderer Bauweise sei möglich, wäre daher nicht belastbar. Unsicherheiten sollten offen benannt werden, beispielsweise als „Pläne vorhanden, Deckenaufbau nicht vollständig bekannt“. Ergänzende Fotos, ergänzende Skizzen oder eine gemeinsame Ortsbegehung können Erkenntnislücken verkleinern. Die Leistungsseite zu Holzrahmenbau, Anbau und Aufstockung bietet eine passende Grundlage für die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einer ersten Einschätzung erkennen</a:t>
            </a:r>
          </a:p>
        </p:txBody>
      </p:sp>
      <p:sp>
        <p:nvSpPr>
          <p:cNvPr id="3" name="Content Placeholder 2"/>
          <p:cNvSpPr>
            <a:spLocks noGrp="1"/>
          </p:cNvSpPr>
          <p:nvPr>
            <p:ph idx="1"/>
          </p:nvPr>
        </p:nvSpPr>
        <p:spPr/>
        <p:txBody>
          <a:bodyPr/>
          <a:lstStyle/>
          <a:p>
            <a:pPr>
              <a:defRPr sz="1800"/>
            </a:pPr>
            <a:r>
              <a:t>trukturierte Vorbereitung einer solchen Anfrage.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Projektanfrage für die weitere Prüfung vorbereiten</a:t>
            </a:r>
          </a:p>
        </p:txBody>
      </p:sp>
      <p:sp>
        <p:nvSpPr>
          <p:cNvPr id="3" name="Content Placeholder 2"/>
          <p:cNvSpPr>
            <a:spLocks noGrp="1"/>
          </p:cNvSpPr>
          <p:nvPr>
            <p:ph idx="1"/>
          </p:nvPr>
        </p:nvSpPr>
        <p:spPr/>
        <p:txBody>
          <a:bodyPr/>
          <a:lstStyle/>
          <a:p>
            <a:pPr>
              <a:defRPr sz="1800"/>
            </a:pPr>
            <a:r>
              <a:t>Eine übersichtliche Anfrage sollte das Vorhaben und den Bestand knapp beschreiben, vorhandene Pläne und Nachweise auflisten und die wichtigsten sichtbaren Bauteile zeigen. Angaben zu Feuchtigkeit, Schäden, früheren Eingriffen sowie zum Stand der baurechtlichen Klärung und der beteiligten Planenden ergänzen das Bild. Ziel ist nicht, mit möglichst wenigen Angaben eine Ausführung zu bestätigen, sondern die entscheidenden Fragen für eine vertiefte Prüfung zu benennen. Dazu gehören insbesondere die Lastabtragung, die Aussteifung, die Anschlussstellen und die erforderlichen Nachweise. Erst auf dieser Grundlage lässt sich anschließend festlegen, wel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Projektanfrage für die weitere Prüfung vorbereiten</a:t>
            </a:r>
          </a:p>
        </p:txBody>
      </p:sp>
      <p:sp>
        <p:nvSpPr>
          <p:cNvPr id="3" name="Content Placeholder 2"/>
          <p:cNvSpPr>
            <a:spLocks noGrp="1"/>
          </p:cNvSpPr>
          <p:nvPr>
            <p:ph idx="1"/>
          </p:nvPr>
        </p:nvSpPr>
        <p:spPr/>
        <p:txBody>
          <a:bodyPr/>
          <a:lstStyle/>
          <a:p>
            <a:pPr>
              <a:defRPr sz="1800"/>
            </a:pPr>
            <a:r>
              <a:t>che Details zu bearbeiten und welche Berechnungen oder Abstimmungen noch erforderlich sind.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Tragfähigkeit realistisch einschätzen: Bestandsangaben für Anbau und Aufstockung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