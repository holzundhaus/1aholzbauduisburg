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uisburg/terrassenuntergrund-pruefen-tragfaehigkeit-feuchte/" TargetMode="External"/><Relationship Id="rId3" Type="http://schemas.openxmlformats.org/officeDocument/2006/relationships/hyperlink" Target="https://holzundhaus.github.io/1aholzbauduisburg/dateien/minimax-7981afd592c9e4bf7bb0b3c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Terrassenuntergrund prüfen: Tragfähigkeit und Feuchte im Bestand erkennen · Erklärende Präsentation</a:t>
            </a:r>
          </a:p>
        </p:txBody>
      </p:sp>
      <p:sp>
        <p:nvSpPr>
          <p:cNvPr id="3" name="Content Placeholder 2"/>
          <p:cNvSpPr>
            <a:spLocks noGrp="1"/>
          </p:cNvSpPr>
          <p:nvPr>
            <p:ph idx="1"/>
          </p:nvPr>
        </p:nvSpPr>
        <p:spPr/>
        <p:txBody>
          <a:bodyPr/>
          <a:lstStyle/>
          <a:p>
            <a:r>
              <a:t>Überblick: Eine Holzterrasse ist nur so stabil und dauerhaft wie ihr Untergrund. Besonders bei einem Bestand, der bereits genutzt wurde, sollte deshalb vor der Planung genau geklärt werden, ob die Fläche tragfähig ist und ob Feuchte oder Wasser im Aufbau verbleiben. Die wichtigsten Prüfungen lassen sich mit einfachen Beobachtungen und aussagekräftigen Fotos vorbereiten.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des vorhandenen Untergrunds einschätzen</a:t>
            </a:r>
          </a:p>
        </p:txBody>
      </p:sp>
      <p:sp>
        <p:nvSpPr>
          <p:cNvPr id="3" name="Content Placeholder 2"/>
          <p:cNvSpPr>
            <a:spLocks noGrp="1"/>
          </p:cNvSpPr>
          <p:nvPr>
            <p:ph idx="1"/>
          </p:nvPr>
        </p:nvSpPr>
        <p:spPr/>
        <p:txBody>
          <a:bodyPr/>
          <a:lstStyle/>
          <a:p>
            <a:pPr>
              <a:defRPr sz="1800"/>
            </a:pPr>
            <a:r>
              <a:t>Bei der Prüfung des Untergrunds wird zunächst auf sichtbare Schäden und ungleichmäßige Flächen geachtet. Risse, Sprünge oder Absenkungen können darauf hinweisen, dass der Bestand nicht mehr ausreichend stabil ist. Auch ein federndes Gefühl beim Begehen, insbesondere an den Rändern, sollte genauer untersucht werden. Intakte Fugen und gleichmäßige Anschlüsse an Hauswand oder Mauerwerk geben dagegen erste Hinweise auf einen intakten Aufbau.</a:t>
            </a:r>
          </a:p>
          <a:p>
            <a:pPr>
              <a:defRPr sz="1800"/>
            </a:pPr>
          </a:p>
          <a:p>
            <a:pPr>
              <a:defRPr sz="1800"/>
            </a:pPr>
            <a:r>
              <a:t>Für die Einordnung ist außerdem wichtig, worauf die Terrasse bisher steht. Möglich sind laut Übersicht beispielsweise Betonplatten, Streifenfundamente oder verdichteter Schotter. Auch frühere Belastungen dur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des vorhandenen Untergrunds einschätzen</a:t>
            </a:r>
          </a:p>
        </p:txBody>
      </p:sp>
      <p:sp>
        <p:nvSpPr>
          <p:cNvPr id="3" name="Content Placeholder 2"/>
          <p:cNvSpPr>
            <a:spLocks noGrp="1"/>
          </p:cNvSpPr>
          <p:nvPr>
            <p:ph idx="1"/>
          </p:nvPr>
        </p:nvSpPr>
        <p:spPr/>
        <p:txBody>
          <a:bodyPr/>
          <a:lstStyle/>
          <a:p>
            <a:pPr>
              <a:defRPr sz="1800"/>
            </a:pPr>
            <a:r>
              <a:t>ch einen Pool oder ein schweres Pflanzgefäß können für die Beurteilung relevant sein. Die Zugänglichkeit der Fläche spielt ebenfalls eine Rolle, weil Materialtransport und mögliche Stemmarbeiten dadurch beeinflusst werden. Eine endgültige Aussage zur Eignung ist anhand einer Beschreibung allein meist nicht möglich.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Wasserführung im Bestand</a:t>
            </a:r>
          </a:p>
        </p:txBody>
      </p:sp>
      <p:sp>
        <p:nvSpPr>
          <p:cNvPr id="3" name="Content Placeholder 2"/>
          <p:cNvSpPr>
            <a:spLocks noGrp="1"/>
          </p:cNvSpPr>
          <p:nvPr>
            <p:ph idx="1"/>
          </p:nvPr>
        </p:nvSpPr>
        <p:spPr/>
        <p:txBody>
          <a:bodyPr/>
          <a:lstStyle/>
          <a:p>
            <a:pPr>
              <a:defRPr sz="1800"/>
            </a:pPr>
            <a:r>
              <a:t>Feuchtigkeit im Unterbau lässt sich unter anderem an dunklen Verfärbungen, Moos, Algen oder einem muffigen Geruch erkennen. Bleibt Regenwasser nach einem Regen länger stehen, sollte geprüft werden, ob das Gefälle oder der Wasserablauf funktioniert. Zusätzlichdeutliche Feuchte kann sich an angrenzenden Wänden oder Sockeln zeigen. Fühlt sich das Holz weich an oder splittert es bei einem vorsichtigen Druckversuch, ist ebenfalls eine genauere Prüfung angebracht.</a:t>
            </a:r>
          </a:p>
          <a:p>
            <a:pPr>
              <a:defRPr sz="1800"/>
            </a:pPr>
          </a:p>
          <a:p>
            <a:pPr>
              <a:defRPr sz="1800"/>
            </a:pPr>
            <a:r>
              <a:t>Bei einer neuen Terrasse muss das Regenwasser abfließen können, und das bewitterte Holz benötigt die Möglichkeit, wieder auszutrocknen. Wasser, das dauerhaft unter der Terrasse oder am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Wasserführung im Bestand</a:t>
            </a:r>
          </a:p>
        </p:txBody>
      </p:sp>
      <p:sp>
        <p:nvSpPr>
          <p:cNvPr id="3" name="Content Placeholder 2"/>
          <p:cNvSpPr>
            <a:spLocks noGrp="1"/>
          </p:cNvSpPr>
          <p:nvPr>
            <p:ph idx="1"/>
          </p:nvPr>
        </p:nvSpPr>
        <p:spPr/>
        <p:txBody>
          <a:bodyPr/>
          <a:lstStyle/>
          <a:p>
            <a:pPr>
              <a:defRPr sz="1800"/>
            </a:pPr>
            <a:r>
              <a:t>üranschluss steht, sollte nicht durch den neuen Aufbau verdeckt werden. Ausführliche Hinweise zur Prüfung von Tragfähigkeit und Feuchte enthält der Beitrag Terrassenuntergrund prüfen.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Türanschluss gemeinsam planen</a:t>
            </a:r>
          </a:p>
        </p:txBody>
      </p:sp>
      <p:sp>
        <p:nvSpPr>
          <p:cNvPr id="3" name="Content Placeholder 2"/>
          <p:cNvSpPr>
            <a:spLocks noGrp="1"/>
          </p:cNvSpPr>
          <p:nvPr>
            <p:ph idx="1"/>
          </p:nvPr>
        </p:nvSpPr>
        <p:spPr/>
        <p:txBody>
          <a:bodyPr/>
          <a:lstStyle/>
          <a:p>
            <a:pPr>
              <a:defRPr sz="1800"/>
            </a:pPr>
            <a:r>
              <a:t>Die Höhe des neuen Aufbaus richtet sich nach der vorhandenen Türschwelle. Wird der Aufbau zu hoch gewählt, kann die Tür am neuen Belag anschlagen. Wird er zu niedrig geplant, bleibt möglicherweise nicht genug Raum für den Wasserablauf und die Belüftung des Rahmens. Deshalb sollte die Türsituation nicht nur nach Augenschein, sondern anhand eines Fotos mit erkennbarer Höhe und der Angabe der heutigen Aufbauhöhe besprochen werden.</a:t>
            </a:r>
          </a:p>
          <a:p>
            <a:pPr>
              <a:defRPr sz="1800"/>
            </a:pPr>
          </a:p>
          <a:p>
            <a:pPr>
              <a:defRPr sz="1800"/>
            </a:pPr>
            <a:r>
              <a:t>Auch der gewünschte Aufbau muss zur vorhandenen Wassersituation passen. Feuchtebereiche, Schattenbereiche und die Bebauung durch Nachbarhäuser können die Trocknung beeinflussen. Ergänzende Orientierung zu Aufbauhöhe,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Türanschluss gemeinsam planen</a:t>
            </a:r>
          </a:p>
        </p:txBody>
      </p:sp>
      <p:sp>
        <p:nvSpPr>
          <p:cNvPr id="3" name="Content Placeholder 2"/>
          <p:cNvSpPr>
            <a:spLocks noGrp="1"/>
          </p:cNvSpPr>
          <p:nvPr>
            <p:ph idx="1"/>
          </p:nvPr>
        </p:nvSpPr>
        <p:spPr/>
        <p:txBody>
          <a:bodyPr/>
          <a:lstStyle/>
          <a:p>
            <a:pPr>
              <a:defRPr sz="1800"/>
            </a:pPr>
            <a:r>
              <a:t>Wasserführung und Türanschluss bietet die Übersicht Holzterrassen und Balkone.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und Angaben für eine erste Einschätzung</a:t>
            </a:r>
          </a:p>
        </p:txBody>
      </p:sp>
      <p:sp>
        <p:nvSpPr>
          <p:cNvPr id="3" name="Content Placeholder 2"/>
          <p:cNvSpPr>
            <a:spLocks noGrp="1"/>
          </p:cNvSpPr>
          <p:nvPr>
            <p:ph idx="1"/>
          </p:nvPr>
        </p:nvSpPr>
        <p:spPr/>
        <p:txBody>
          <a:bodyPr/>
          <a:lstStyle/>
          <a:p>
            <a:pPr>
              <a:defRPr sz="1800"/>
            </a:pPr>
            <a:r>
              <a:t>Für eine gut vorbereitete Anfrage helfen ein Übersichtsfoto der gesamten Terrassenfläche sowie Nahaufnahmen des Untergrunds an mehreren Stellen. Besonders wichtig sind Bilder von problematischen Punkten, erkennbaren Rissen, feuchten Bereichen oder auffälligen Absenkungen. Ein Foto des Türanschlusses mit sichtbarer Höhe ergänzt die technischen Angaben.</a:t>
            </a:r>
          </a:p>
          <a:p>
            <a:pPr>
              <a:defRPr sz="1800"/>
            </a:pPr>
          </a:p>
          <a:p>
            <a:pPr>
              <a:defRPr sz="1800"/>
            </a:pPr>
            <a:r>
              <a:t>Hilfreich sind außerdem das Maß der gewünschten Fläche, die aktuelle Aufbauhöhe und Hinweise auf bekannte Feuchtezonen oder Schattenbereiche. Bei deutlichen Rissen, erkennbaren Setzungen, großflächiger Feuchte oder unbekanntem Bestand ist eine Prüfung vor Ort sinnvoll. Die Fotos ersetzen keine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und Angaben für eine erste Einschätzung</a:t>
            </a:r>
          </a:p>
        </p:txBody>
      </p:sp>
      <p:sp>
        <p:nvSpPr>
          <p:cNvPr id="3" name="Content Placeholder 2"/>
          <p:cNvSpPr>
            <a:spLocks noGrp="1"/>
          </p:cNvSpPr>
          <p:nvPr>
            <p:ph idx="1"/>
          </p:nvPr>
        </p:nvSpPr>
        <p:spPr/>
        <p:txBody>
          <a:bodyPr/>
          <a:lstStyle/>
          <a:p>
            <a:pPr>
              <a:defRPr sz="1800"/>
            </a:pPr>
            <a:r>
              <a:t>Fachprüfung, ermöglichen aber eine gezielte Eingrenzung der offenen Punkte.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Terrassenuntergrund prüfen: Tragfähigkeit und Feuchte im Bestand erkennen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